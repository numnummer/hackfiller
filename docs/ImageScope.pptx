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Задача: превратить сырые картинки каталога в единый, чистый визуальный ряд и дать измеримый результат. ImageScope сам собирает данные, анализирует и показывает до/после.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Цепочка единая: интерфейс ходит только в API. Парсер собирает 5 страниц каталога параллельно, берёт равномерную выборку и качает картинки с лимитами. Ошибки возвращаются в 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NumPy-часть — статистика и фильтры чистыми операциями над массивами. PyTorch-часть — настоящий conv2d с depthwise-ядрами; Собель даёт контуры для комикса и наброска.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Одни и те же обои пропущена через разные пресеты. Главный практический пресет — «Карточка товара»: автоконтраст, подъём теней, резкость.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Таблицу вклада заменить реальными именами команды перед защитой. Каждый участник кратко называет свой вклад.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Relationship Id="rId6" Type="http://schemas.openxmlformats.org/officeDocument/2006/relationships/image" Target="../media/image7.jpg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6400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>
                <a:solidFill>
                  <a:srgbClr val="FFFFFF"/>
                </a:solidFill>
                <a:latin typeface="Cambria"/>
              </a:rPr>
              <a:t>ImageScope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6035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CADCFC"/>
                </a:solidFill>
                <a:latin typeface="Calibri"/>
              </a:rPr>
              <a:t>Собираем картинки каталога, измеряем и превращаем в стиль — с «до/после» за один клик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0"/>
            <a:ext cx="2103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>
                <a:solidFill>
                  <a:srgbClr val="F5A623"/>
                </a:solidFill>
                <a:latin typeface="Cambria"/>
              </a:rPr>
              <a:t>120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577840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обоев с wallpaperscraft.com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4754880"/>
            <a:ext cx="2103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>
                <a:solidFill>
                  <a:srgbClr val="F5A623"/>
                </a:solidFill>
                <a:latin typeface="Cambria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5577840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фильтров NumPy и PyTorch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4754880"/>
            <a:ext cx="2103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>
                <a:solidFill>
                  <a:srgbClr val="F5A623"/>
                </a:solidFill>
                <a:latin typeface="Cambria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5577840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творческих пресетов</a:t>
            </a:r>
          </a:p>
        </p:txBody>
      </p:sp>
      <p:pic>
        <p:nvPicPr>
          <p:cNvPr id="10" name="Picture 9" descr="orig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114800" cy="2304288"/>
          </a:xfrm>
          <a:prstGeom prst="rect">
            <a:avLst/>
          </a:prstGeom>
        </p:spPr>
      </p:pic>
      <p:pic>
        <p:nvPicPr>
          <p:cNvPr id="11" name="Picture 10" descr="comic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3749039"/>
            <a:ext cx="4114800" cy="230428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498079" y="324612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5A623"/>
                </a:solidFill>
                <a:latin typeface="Calibri"/>
              </a:rPr>
              <a:t>до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61722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5A623"/>
                </a:solidFill>
                <a:latin typeface="Calibri"/>
              </a:rPr>
              <a:t>после: «комикс»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4213D"/>
                </a:solidFill>
                <a:latin typeface="Cambria"/>
              </a:rPr>
              <a:t>Задача и архитектура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5B6785"/>
                </a:solidFill>
                <a:latin typeface="Calibri"/>
              </a:rPr>
              <a:t>Картинки каталога разные: тёмные, малоконтрастные, неровные. ImageScope находит их на реальном сайте (WallpapersCraft, раздел Art), считает метрики и применяет фильтры — пользователь сразу видит эффект.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743200"/>
            <a:ext cx="2057400" cy="2194560"/>
          </a:xfrm>
          <a:prstGeom prst="roundRect">
            <a:avLst>
              <a:gd name="adj" fmla="val 8000"/>
            </a:avLst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971800"/>
            <a:ext cx="1691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Интерфейс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691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HTML/JS: фильтр, интенсивность, галерея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87752" y="361188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5B6785"/>
                </a:solidFill>
                <a:latin typeface="Calibri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2743200"/>
            <a:ext cx="2057400" cy="2194560"/>
          </a:xfrm>
          <a:prstGeom prst="roundRect">
            <a:avLst>
              <a:gd name="adj" fmla="val 8000"/>
            </a:avLst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2971800"/>
            <a:ext cx="1691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FastAPI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3657600"/>
            <a:ext cx="1691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POST /api/analyze, Pydantic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8032" y="361188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5B6785"/>
                </a:solidFill>
                <a:latin typeface="Calib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2743200"/>
            <a:ext cx="2057400" cy="2194560"/>
          </a:xfrm>
          <a:prstGeom prst="roundRect">
            <a:avLst>
              <a:gd name="adj" fmla="val 8000"/>
            </a:avLst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2971800"/>
            <a:ext cx="1691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Парсинг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3657600"/>
            <a:ext cx="1691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httpx + BeautifulSoup, тайм-ауты, пропуск битых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68312" y="361188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5B6785"/>
                </a:solidFill>
                <a:latin typeface="Calibri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9480" y="2743200"/>
            <a:ext cx="2057400" cy="2194560"/>
          </a:xfrm>
          <a:prstGeom prst="roundRect">
            <a:avLst>
              <a:gd name="adj" fmla="val 8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2971800"/>
            <a:ext cx="1691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4213D"/>
                </a:solidFill>
                <a:latin typeface="Cambria"/>
              </a:rPr>
              <a:t>NumPy / PyTorch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3657600"/>
            <a:ext cx="1691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4213D"/>
                </a:solidFill>
                <a:latin typeface="Calibri"/>
              </a:rPr>
              <a:t>статистика, фильтры, conv2d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8592" y="361188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5B6785"/>
                </a:solidFill>
                <a:latin typeface="Calibri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09760" y="2743200"/>
            <a:ext cx="2057400" cy="2194560"/>
          </a:xfrm>
          <a:prstGeom prst="roundRect">
            <a:avLst>
              <a:gd name="adj" fmla="val 8000"/>
            </a:avLst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0" y="2971800"/>
            <a:ext cx="1691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Отчёт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3657600"/>
            <a:ext cx="1691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JSON: метрики, до/после, ошибки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3949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4213D"/>
                </a:solidFill>
                <a:latin typeface="Calibri"/>
              </a:rPr>
              <a:t>Устойчивость: тайм-ауты 10 с, лимит 3 МБ на файл, ≤ 20 изображений за запрос. Один плохой файл не ломает отчёт — он попадает в список ошибок.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4213D"/>
                </a:solidFill>
                <a:latin typeface="Cambria"/>
              </a:rPr>
              <a:t>Методы: NumPy и PyTorch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5394960" cy="4023360"/>
          </a:xfrm>
          <a:prstGeom prst="roundRect">
            <a:avLst>
              <a:gd name="adj" fmla="val 8000"/>
            </a:avLst>
          </a:prstGeom>
          <a:solidFill>
            <a:srgbClr val="EE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59" y="1645920"/>
            <a:ext cx="457200" cy="457200"/>
          </a:xfrm>
          <a:prstGeom prst="ellipse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645920"/>
            <a:ext cx="4297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4213D"/>
                </a:solidFill>
                <a:latin typeface="Cambria"/>
              </a:rPr>
              <a:t>NumPy: измеряем и правим массивы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68880"/>
            <a:ext cx="475488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4213D"/>
                </a:solidFill>
                <a:latin typeface="Calibri"/>
              </a:rPr>
              <a:t>• Размер, соотношение сторон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4213D"/>
                </a:solidFill>
                <a:latin typeface="Calibri"/>
              </a:rPr>
              <a:t>• Яркость и контраст (std яркости)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4213D"/>
                </a:solidFill>
                <a:latin typeface="Calibri"/>
              </a:rPr>
              <a:t>• Средний цвет, доли тёмных/светлых пикселей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4213D"/>
                </a:solidFill>
                <a:latin typeface="Calibri"/>
              </a:rPr>
              <a:t>• 16-бинная гистограмма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4213D"/>
                </a:solidFill>
                <a:latin typeface="Calibri"/>
              </a:rPr>
              <a:t>• Фильтры: сепия, постеризация, пикселизация, гамма, автоконтраст, негатив, порог, grayscale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394960" cy="4023360"/>
          </a:xfrm>
          <a:prstGeom prst="roundRect">
            <a:avLst>
              <a:gd name="adj" fmla="val 8000"/>
            </a:avLst>
          </a:prstGeom>
          <a:solidFill>
            <a:srgbClr val="EE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92240" y="1645920"/>
            <a:ext cx="457200" cy="4572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1645920"/>
            <a:ext cx="4297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4213D"/>
                </a:solidFill>
                <a:latin typeface="Cambria"/>
              </a:rPr>
              <a:t>PyTorch: свёртки conv2d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59" y="2468880"/>
            <a:ext cx="475488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4213D"/>
                </a:solidFill>
                <a:latin typeface="Calibri"/>
              </a:rPr>
              <a:t>• Тензор 1×C×H×W, depthwise-ядра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4213D"/>
                </a:solidFill>
                <a:latin typeface="Calibri"/>
              </a:rPr>
              <a:t>• Размытие (Гаусс 3×3), резкость, рельеф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4213D"/>
                </a:solidFill>
                <a:latin typeface="Calibri"/>
              </a:rPr>
              <a:t>• Собель: два ядра → величина градиента → контуры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4213D"/>
                </a:solidFill>
                <a:latin typeface="Calibri"/>
              </a:rPr>
              <a:t>• Результат — готовая картинка, не число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4213D"/>
                </a:solidFill>
                <a:latin typeface="Calibri"/>
              </a:rPr>
              <a:t>• Пресеты — цепочки фильтров с общей интенсивностью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Cambria"/>
              </a:rPr>
              <a:t>Один каталог — пять стилей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2103120" cy="4023360"/>
          </a:xfrm>
          <a:prstGeom prst="roundRect">
            <a:avLst>
              <a:gd name="adj" fmla="val 8000"/>
            </a:avLst>
          </a:prstGeom>
          <a:solidFill>
            <a:srgbClr val="2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ri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86000"/>
            <a:ext cx="1828800" cy="1024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42976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5A623"/>
                </a:solidFill>
                <a:latin typeface="Cambria"/>
              </a:rPr>
              <a:t>Оригинал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709160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в среднем: яркость 83, контраст 50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1463040"/>
            <a:ext cx="2103120" cy="4023360"/>
          </a:xfrm>
          <a:prstGeom prst="roundRect">
            <a:avLst>
              <a:gd name="adj" fmla="val 8000"/>
            </a:avLst>
          </a:prstGeom>
          <a:solidFill>
            <a:srgbClr val="2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roduct_boost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2286000"/>
            <a:ext cx="1828800" cy="10241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971800" y="42976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5A623"/>
                </a:solidFill>
                <a:latin typeface="Cambria"/>
              </a:rPr>
              <a:t>Карточка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4709160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в среднем: яркость 109, контраст 62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1463040"/>
            <a:ext cx="2103120" cy="4023360"/>
          </a:xfrm>
          <a:prstGeom prst="roundRect">
            <a:avLst>
              <a:gd name="adj" fmla="val 8000"/>
            </a:avLst>
          </a:prstGeom>
          <a:solidFill>
            <a:srgbClr val="2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omic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2286000"/>
            <a:ext cx="1828800" cy="10241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257800" y="42976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5A623"/>
                </a:solidFill>
                <a:latin typeface="Cambria"/>
              </a:rPr>
              <a:t>Комикс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4709160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постеризация + контуры Собеля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1463040"/>
            <a:ext cx="2103120" cy="4023360"/>
          </a:xfrm>
          <a:prstGeom prst="roundRect">
            <a:avLst>
              <a:gd name="adj" fmla="val 8000"/>
            </a:avLst>
          </a:prstGeom>
          <a:solidFill>
            <a:srgbClr val="2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retro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0" y="2286000"/>
            <a:ext cx="1828800" cy="102412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543800" y="42976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5A623"/>
                </a:solidFill>
                <a:latin typeface="Cambria"/>
              </a:rPr>
              <a:t>Ретро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4709160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сепия + размытие + тиснение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92640" y="1463040"/>
            <a:ext cx="2103120" cy="4023360"/>
          </a:xfrm>
          <a:prstGeom prst="roundRect">
            <a:avLst>
              <a:gd name="adj" fmla="val 8000"/>
            </a:avLst>
          </a:prstGeom>
          <a:solidFill>
            <a:srgbClr val="2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pixel_art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9800" y="2286000"/>
            <a:ext cx="1828800" cy="102412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829800" y="42976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5A623"/>
                </a:solidFill>
                <a:latin typeface="Cambria"/>
              </a:rPr>
              <a:t>Пиксель-арт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4709160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пикселизация + палитра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76072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CADCFC"/>
                </a:solidFill>
                <a:latin typeface="Calibri"/>
              </a:rPr>
              <a:t>Средние по 6 обоям: «Карточка товара» поднимает яркость 83 → 109 и контраст 50 → 62 — каталог выглядит чище и единообразнее.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4213D"/>
                </a:solidFill>
                <a:latin typeface="Cambria"/>
              </a:rPr>
              <a:t>Вклад команды и выводы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023360"/>
                <a:gridCol w="5029200"/>
              </a:tblGrid>
              <a:tr h="59436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Участник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Зона ответственности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Результат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213D"/>
                          </a:solidFill>
                          <a:latin typeface="Calibri"/>
                        </a:rPr>
                        <a:t>Имя 1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213D"/>
                          </a:solidFill>
                          <a:latin typeface="Calibri"/>
                        </a:rPr>
                        <a:t>FastAPI, Pydantic-модели, тесты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213D"/>
                          </a:solidFill>
                          <a:latin typeface="Calibri"/>
                        </a:rPr>
                        <a:t>/api/analyze, валидация, JSON-отчёт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213D"/>
                          </a:solidFill>
                          <a:latin typeface="Calibri"/>
                        </a:rPr>
                        <a:t>Имя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213D"/>
                          </a:solidFill>
                          <a:latin typeface="Calibri"/>
                        </a:rPr>
                        <a:t>Парсинг и загрузка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213D"/>
                          </a:solidFill>
                          <a:latin typeface="Calibri"/>
                        </a:rPr>
                        <a:t>httpx + BeautifulSoup, ссылки, тайм-ауты, ошибки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213D"/>
                          </a:solidFill>
                          <a:latin typeface="Calibri"/>
                        </a:rPr>
                        <a:t>Имя 3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213D"/>
                          </a:solidFill>
                          <a:latin typeface="Calibri"/>
                        </a:rPr>
                        <a:t>NumPy/PyTorch и интерфейс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213D"/>
                          </a:solidFill>
                          <a:latin typeface="Calibri"/>
                        </a:rPr>
                        <a:t>13 фильтров, 5 пресетов, галерея до/после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1148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4213D"/>
                </a:solidFill>
                <a:latin typeface="Cambria"/>
              </a:rPr>
              <a:t>Выводы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663440"/>
            <a:ext cx="109728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4213D"/>
                </a:solidFill>
                <a:latin typeface="Calibri"/>
              </a:rPr>
              <a:t>• Рабочая цепочка от сбора до «до/после» на реальном сайте, 120 изображений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4213D"/>
                </a:solidFill>
                <a:latin typeface="Calibri"/>
              </a:rPr>
              <a:t>• NumPy и PyTorch реально участвуют в результате: метрики и визуальные фильтры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4213D"/>
                </a:solidFill>
                <a:latin typeface="Calibri"/>
              </a:rPr>
              <a:t>• Дальше: свои ядра, сохранение пресетов, пакетная выгрузка обработанных карточек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